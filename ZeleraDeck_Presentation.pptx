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46F2-D490-15CE-20D0-622F19113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0E9644-9B39-C198-5975-F0BDD2832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46C26-09BA-147F-A2F4-69EB598FB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E6AF-E593-4CBF-B4CC-6F6F6CF652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D4C54-86B8-D9AC-35B4-A86D8C241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30C1-AB66-1925-6868-896F421E2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40575-D406-4225-A3A2-4CFED7992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630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7D8C-15A4-5593-539E-7D9EC70E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2E6FF-ECCB-6E9E-731B-4BBF97488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8B602-D399-85BA-C39F-D1269E38E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E6AF-E593-4CBF-B4CC-6F6F6CF652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CCD34-0A7F-48C2-0E66-7E7FD6C6B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0E1DA-F4C0-1326-417A-826605533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40575-D406-4225-A3A2-4CFED7992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88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06D1-95EC-F2E0-6B48-434EB5133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6CF0E-4ADD-6672-BD86-B7992EAF9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2FE2E-84AD-3E3A-82AA-48CD7AF0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E6AF-E593-4CBF-B4CC-6F6F6CF652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F9788-7C95-5205-4FC1-8CBABADE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A0B74-5540-1AA4-5546-EC54C92C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40575-D406-4225-A3A2-4CFED7992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00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54DE0-BA83-5BB7-BF27-8100AB0FF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31D0C-E9E8-B63C-1F96-5D93CD160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0F4785-D1B8-5BA4-367E-659BB2E7D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5532A-3FEC-6E98-BB60-8F6119EF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E6AF-E593-4CBF-B4CC-6F6F6CF652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513D1-ECED-EE70-F207-6A44EE143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DB9B0-0263-B528-6397-60438EDC7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40575-D406-4225-A3A2-4CFED7992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118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045F-7DE0-CB08-86C0-8A3BB44DE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DFC81-24FB-0C33-D019-26C2E7C18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B33FC-E628-7208-BE88-AFB8222F9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57571D-A702-E9A9-7018-125934818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2FDE05-4A66-D0E0-A55C-79B7A613A6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6DD553-EAAD-5AA4-0128-B3AA3239F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E6AF-E593-4CBF-B4CC-6F6F6CF652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59BFA9-E6AB-8DE7-C0E5-0A822117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566812-4E3B-8348-48B6-677D37E7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40575-D406-4225-A3A2-4CFED7992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94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D2DE-17F4-72FF-A163-7E3789EA8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79E71C-6E51-0980-CD55-F349DF995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E6AF-E593-4CBF-B4CC-6F6F6CF652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6716DA-EB5A-2740-E1A9-AB23DFFE7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0F526-8EAE-C189-1DF8-D41391236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40575-D406-4225-A3A2-4CFED7992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217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0EAEF-1F01-C725-C2FE-A73678A45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E6AF-E593-4CBF-B4CC-6F6F6CF652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D2606-2BF6-7942-6907-84416381C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EA601-20DF-FAD5-64ED-59F05CAD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40575-D406-4225-A3A2-4CFED7992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84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E2355-FC84-7F56-A43C-3D0E02EE1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6FFE1-F6FE-2FD1-E359-402D1A781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341C1-B97D-DD5D-72CC-53EFE6990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A8C133-F0C4-6429-BE79-11D095A4A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E6AF-E593-4CBF-B4CC-6F6F6CF652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6B137-862F-4539-BC5B-9FCB32CF2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4C067-AD22-1823-654D-ECCF75083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40575-D406-4225-A3A2-4CFED7992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687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097CB-8115-62DD-B34A-C2C7569B8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26BC4D-9598-9B87-4DF0-BE270AE9E6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88BB3-07BB-0CCB-4234-593C4FD64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5F40D-ED07-7E43-854B-CC8750EF6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E6AF-E593-4CBF-B4CC-6F6F6CF652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334B2-EE7C-F747-F773-6FB34CCE0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A56B4-36CA-A25A-150C-23E0F6D50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40575-D406-4225-A3A2-4CFED7992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27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D79D6-DA60-581D-C118-3CF057C2F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08A97-87CC-85FA-BAEB-9497A9407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49CD7-2D7B-A966-53FF-749682427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E6AF-E593-4CBF-B4CC-6F6F6CF652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5A841-4C76-45DF-82AE-D1F2F34A2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4FA2D-8A5B-2682-83FE-96CC4F6D6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40575-D406-4225-A3A2-4CFED7992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59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63D559-274F-B2A1-900A-D0BF3B4BEC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F951CC-A9C5-F793-C924-25E86C0B6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9CB66-9A49-ED03-B1A9-EE224EA86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E6AF-E593-4CBF-B4CC-6F6F6CF652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BA697-C339-265A-E13A-1C7478A05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D5CD3-550D-EE92-8416-F1004021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40575-D406-4225-A3A2-4CFED7992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41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2DBD6D-B870-57ED-0A85-53539F29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F3344-1F4B-8869-E924-4A9E986D8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80DDA-C6AE-26C0-2741-1DDDB8FCB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BE6AF-E593-4CBF-B4CC-6F6F6CF6525B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E59F5-D635-873C-DB52-4B4320A76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384E8-CA53-00F5-2FBE-02B55F7C3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D40575-D406-4225-A3A2-4CFED7992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401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FDF04E-3208-EA19-EFB2-0F70064D48F7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C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2EFDA-436B-BEB6-69DF-277B9D275762}"/>
              </a:ext>
            </a:extLst>
          </p:cNvPr>
          <p:cNvSpPr txBox="1"/>
          <p:nvPr/>
        </p:nvSpPr>
        <p:spPr>
          <a:xfrm>
            <a:off x="762000" y="1778000"/>
            <a:ext cx="10668000" cy="1270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5200" b="1">
                <a:solidFill>
                  <a:srgbClr val="FFFFFF"/>
                </a:solidFill>
                <a:latin typeface="Calibri" panose="020F0502020204030204" pitchFamily="34" charset="0"/>
              </a:rPr>
              <a:t>Zelera Deck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9BE15-66DF-4B7F-4A48-21B5339B3CBC}"/>
              </a:ext>
            </a:extLst>
          </p:cNvPr>
          <p:cNvSpPr txBox="1"/>
          <p:nvPr/>
        </p:nvSpPr>
        <p:spPr>
          <a:xfrm>
            <a:off x="762000" y="3175000"/>
            <a:ext cx="8890000" cy="762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2200">
                <a:solidFill>
                  <a:srgbClr val="C8C8C8"/>
                </a:solidFill>
                <a:latin typeface="Calibri" panose="020F0502020204030204" pitchFamily="34" charset="0"/>
              </a:rPr>
              <a:t>Your Shop, Now in Every Customer's Pocket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7F2F234-4C3A-19E2-D9CF-7582998789D1}"/>
              </a:ext>
            </a:extLst>
          </p:cNvPr>
          <p:cNvSpPr/>
          <p:nvPr/>
        </p:nvSpPr>
        <p:spPr>
          <a:xfrm>
            <a:off x="762000" y="4191000"/>
            <a:ext cx="4064000" cy="482600"/>
          </a:xfrm>
          <a:prstGeom prst="roundRect">
            <a:avLst/>
          </a:prstGeom>
          <a:solidFill>
            <a:srgbClr val="FFC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b="1">
                <a:solidFill>
                  <a:srgbClr val="0A0A0A"/>
                </a:solidFill>
                <a:latin typeface="Calibri" panose="020F0502020204030204" pitchFamily="34" charset="0"/>
              </a:rPr>
              <a:t>The Smarter Way to Sell Online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42A0CF-B644-6921-B6AE-F77486A05326}"/>
              </a:ext>
            </a:extLst>
          </p:cNvPr>
          <p:cNvSpPr txBox="1"/>
          <p:nvPr/>
        </p:nvSpPr>
        <p:spPr>
          <a:xfrm>
            <a:off x="11176000" y="6477000"/>
            <a:ext cx="889000" cy="3048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>
                <a:solidFill>
                  <a:srgbClr val="646464"/>
                </a:solidFill>
                <a:latin typeface="Calibri" panose="020F0502020204030204" pitchFamily="34" charset="0"/>
              </a:rPr>
              <a:t>01 / 07</a:t>
            </a:r>
          </a:p>
        </p:txBody>
      </p:sp>
    </p:spTree>
    <p:extLst>
      <p:ext uri="{BB962C8B-B14F-4D97-AF65-F5344CB8AC3E}">
        <p14:creationId xmlns:p14="http://schemas.microsoft.com/office/powerpoint/2010/main" val="3782457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398DAE-0476-C4FD-7D43-B6283E02056D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DC35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322C6F-FD64-580C-9DFB-DFDB7D0370EA}"/>
              </a:ext>
            </a:extLst>
          </p:cNvPr>
          <p:cNvSpPr txBox="1"/>
          <p:nvPr/>
        </p:nvSpPr>
        <p:spPr>
          <a:xfrm>
            <a:off x="11176000" y="6477000"/>
            <a:ext cx="889000" cy="3048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>
                <a:solidFill>
                  <a:srgbClr val="B4B4B4"/>
                </a:solidFill>
                <a:latin typeface="Calibri" panose="020F0502020204030204" pitchFamily="34" charset="0"/>
              </a:rPr>
              <a:t>02 / 07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970F0B-716B-45D1-1D51-42AFA26E4428}"/>
              </a:ext>
            </a:extLst>
          </p:cNvPr>
          <p:cNvSpPr/>
          <p:nvPr/>
        </p:nvSpPr>
        <p:spPr>
          <a:xfrm>
            <a:off x="508000" y="533400"/>
            <a:ext cx="1651000" cy="330200"/>
          </a:xfrm>
          <a:prstGeom prst="roundRect">
            <a:avLst/>
          </a:prstGeom>
          <a:solidFill>
            <a:srgbClr val="DC35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The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F7850-8147-050A-D204-9F29E1E2A2FB}"/>
              </a:ext>
            </a:extLst>
          </p:cNvPr>
          <p:cNvSpPr txBox="1"/>
          <p:nvPr/>
        </p:nvSpPr>
        <p:spPr>
          <a:xfrm>
            <a:off x="508000" y="1016000"/>
            <a:ext cx="1117600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3000" b="1">
                <a:solidFill>
                  <a:srgbClr val="0A0A0A"/>
                </a:solidFill>
                <a:latin typeface="Calibri" panose="020F0502020204030204" pitchFamily="34" charset="0"/>
              </a:rPr>
              <a:t>The Problem with Traditional Websites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4C6698-17F8-04A7-699D-B23C0EFB4D77}"/>
              </a:ext>
            </a:extLst>
          </p:cNvPr>
          <p:cNvSpPr txBox="1"/>
          <p:nvPr/>
        </p:nvSpPr>
        <p:spPr>
          <a:xfrm>
            <a:off x="508000" y="1968500"/>
            <a:ext cx="11176000" cy="3556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>
                <a:solidFill>
                  <a:srgbClr val="646464"/>
                </a:solidFill>
                <a:latin typeface="Calibri" panose="020F0502020204030204" pitchFamily="34" charset="0"/>
              </a:rPr>
              <a:t>Why old-school websites don't work for local shop owners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F9BCEE1-B0E4-9CF6-FDA3-F1C9F4EBCA8C}"/>
              </a:ext>
            </a:extLst>
          </p:cNvPr>
          <p:cNvCxnSpPr/>
          <p:nvPr/>
        </p:nvCxnSpPr>
        <p:spPr>
          <a:xfrm>
            <a:off x="508000" y="2413000"/>
            <a:ext cx="11176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45D572-582E-6257-59A2-FB6A68D0E7D7}"/>
              </a:ext>
            </a:extLst>
          </p:cNvPr>
          <p:cNvSpPr/>
          <p:nvPr/>
        </p:nvSpPr>
        <p:spPr>
          <a:xfrm>
            <a:off x="508000" y="2667000"/>
            <a:ext cx="11049000" cy="1079500"/>
          </a:xfrm>
          <a:prstGeom prst="roundRect">
            <a:avLst/>
          </a:prstGeom>
          <a:solidFill>
            <a:srgbClr val="FCFCFC"/>
          </a:solidFill>
          <a:ln w="9525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27000" rIns="127000" rtlCol="0" anchor="ctr"/>
          <a:lstStyle/>
          <a:p>
            <a:pPr algn="ctr"/>
            <a:r>
              <a:rPr lang="en-US" sz="1400">
                <a:solidFill>
                  <a:srgbClr val="1E1E1E"/>
                </a:solidFill>
                <a:latin typeface="Calibri" panose="020F0502020204030204" pitchFamily="34" charset="0"/>
              </a:rPr>
              <a:t>▶  Too Expensive — Thousands of rupees to build, plus never-ending monthly fees.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8494D0-D424-CE0E-B32C-BCDC5380007A}"/>
              </a:ext>
            </a:extLst>
          </p:cNvPr>
          <p:cNvSpPr/>
          <p:nvPr/>
        </p:nvSpPr>
        <p:spPr>
          <a:xfrm>
            <a:off x="508000" y="3848100"/>
            <a:ext cx="11049000" cy="1079500"/>
          </a:xfrm>
          <a:prstGeom prst="roundRect">
            <a:avLst/>
          </a:prstGeom>
          <a:solidFill>
            <a:srgbClr val="FCFCFC"/>
          </a:solidFill>
          <a:ln w="9525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27000" rIns="127000" rtlCol="0" anchor="ctr"/>
          <a:lstStyle/>
          <a:p>
            <a:pPr algn="ctr"/>
            <a:r>
              <a:rPr lang="en-US" sz="1400">
                <a:solidFill>
                  <a:srgbClr val="1E1E1E"/>
                </a:solidFill>
                <a:latin typeface="Calibri" panose="020F0502020204030204" pitchFamily="34" charset="0"/>
              </a:rPr>
              <a:t>▶  Too Complicated — Needs IT experts. You just want to run your shop, not a server.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95F68F-A814-E293-39B9-EB10D9557452}"/>
              </a:ext>
            </a:extLst>
          </p:cNvPr>
          <p:cNvSpPr/>
          <p:nvPr/>
        </p:nvSpPr>
        <p:spPr>
          <a:xfrm>
            <a:off x="508000" y="5029200"/>
            <a:ext cx="11049000" cy="1079500"/>
          </a:xfrm>
          <a:prstGeom prst="roundRect">
            <a:avLst/>
          </a:prstGeom>
          <a:solidFill>
            <a:srgbClr val="FCFCFC"/>
          </a:solidFill>
          <a:ln w="9525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27000" rIns="127000" rtlCol="0" anchor="ctr"/>
          <a:lstStyle/>
          <a:p>
            <a:pPr algn="ctr"/>
            <a:r>
              <a:rPr lang="en-US" sz="1400">
                <a:solidFill>
                  <a:srgbClr val="1E1E1E"/>
                </a:solidFill>
                <a:latin typeface="Calibri" panose="020F0502020204030204" pitchFamily="34" charset="0"/>
              </a:rPr>
              <a:t>▶  Hard to Update — Changing a price or marking something sold out takes days.</a:t>
            </a:r>
          </a:p>
        </p:txBody>
      </p:sp>
    </p:spTree>
    <p:extLst>
      <p:ext uri="{BB962C8B-B14F-4D97-AF65-F5344CB8AC3E}">
        <p14:creationId xmlns:p14="http://schemas.microsoft.com/office/powerpoint/2010/main" val="851808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C320A1-CF08-40F5-CEA8-43E3ADBD66A0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5D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02784-3142-1879-04B3-302366ED2F5D}"/>
              </a:ext>
            </a:extLst>
          </p:cNvPr>
          <p:cNvSpPr txBox="1"/>
          <p:nvPr/>
        </p:nvSpPr>
        <p:spPr>
          <a:xfrm>
            <a:off x="11176000" y="6477000"/>
            <a:ext cx="889000" cy="3048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>
                <a:solidFill>
                  <a:srgbClr val="B4B4B4"/>
                </a:solidFill>
                <a:latin typeface="Calibri" panose="020F0502020204030204" pitchFamily="34" charset="0"/>
              </a:rPr>
              <a:t>03 / 07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CC2FE6-0E79-0E5E-A3C8-9F89E27E779A}"/>
              </a:ext>
            </a:extLst>
          </p:cNvPr>
          <p:cNvSpPr/>
          <p:nvPr/>
        </p:nvSpPr>
        <p:spPr>
          <a:xfrm>
            <a:off x="508000" y="533400"/>
            <a:ext cx="1651000" cy="330200"/>
          </a:xfrm>
          <a:prstGeom prst="roundRect">
            <a:avLst/>
          </a:prstGeom>
          <a:solidFill>
            <a:srgbClr val="25D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The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B64DE2-9C6C-FE15-BBEA-4ADE8A2023FA}"/>
              </a:ext>
            </a:extLst>
          </p:cNvPr>
          <p:cNvSpPr txBox="1"/>
          <p:nvPr/>
        </p:nvSpPr>
        <p:spPr>
          <a:xfrm>
            <a:off x="508000" y="1016000"/>
            <a:ext cx="1117600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3000" b="1">
                <a:solidFill>
                  <a:srgbClr val="0A0A0A"/>
                </a:solidFill>
                <a:latin typeface="Calibri" panose="020F0502020204030204" pitchFamily="34" charset="0"/>
              </a:rPr>
              <a:t>Meet Zelera Deck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69ACC-02D1-F84F-ADC0-06B0EEFF8CD7}"/>
              </a:ext>
            </a:extLst>
          </p:cNvPr>
          <p:cNvSpPr txBox="1"/>
          <p:nvPr/>
        </p:nvSpPr>
        <p:spPr>
          <a:xfrm>
            <a:off x="508000" y="1968500"/>
            <a:ext cx="11176000" cy="3556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>
                <a:solidFill>
                  <a:srgbClr val="646464"/>
                </a:solidFill>
                <a:latin typeface="Calibri" panose="020F0502020204030204" pitchFamily="34" charset="0"/>
              </a:rPr>
              <a:t>Designed for you — not programmers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9F34E0-18CD-85EF-8D38-328469FBDC60}"/>
              </a:ext>
            </a:extLst>
          </p:cNvPr>
          <p:cNvCxnSpPr/>
          <p:nvPr/>
        </p:nvCxnSpPr>
        <p:spPr>
          <a:xfrm>
            <a:off x="508000" y="2413000"/>
            <a:ext cx="11176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9EE8CE-F0B9-5240-9AD2-186ECD9FD95A}"/>
              </a:ext>
            </a:extLst>
          </p:cNvPr>
          <p:cNvSpPr/>
          <p:nvPr/>
        </p:nvSpPr>
        <p:spPr>
          <a:xfrm>
            <a:off x="508000" y="2667000"/>
            <a:ext cx="11049000" cy="1079500"/>
          </a:xfrm>
          <a:prstGeom prst="roundRect">
            <a:avLst/>
          </a:prstGeom>
          <a:solidFill>
            <a:srgbClr val="FCFCFC"/>
          </a:solidFill>
          <a:ln w="9525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27000" rIns="127000" rtlCol="0" anchor="ctr"/>
          <a:lstStyle/>
          <a:p>
            <a:pPr algn="ctr"/>
            <a:r>
              <a:rPr lang="en-US" sz="1400">
                <a:solidFill>
                  <a:srgbClr val="1E1E1E"/>
                </a:solidFill>
                <a:latin typeface="Calibri" panose="020F0502020204030204" pitchFamily="34" charset="0"/>
              </a:rPr>
              <a:t>▶  Zero Tech Skills — If you can use WhatsApp, you can run your Zelera Deck store.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B8FD7FD-B281-158A-B0A8-CD3696D1169B}"/>
              </a:ext>
            </a:extLst>
          </p:cNvPr>
          <p:cNvSpPr/>
          <p:nvPr/>
        </p:nvSpPr>
        <p:spPr>
          <a:xfrm>
            <a:off x="508000" y="3848100"/>
            <a:ext cx="11049000" cy="1079500"/>
          </a:xfrm>
          <a:prstGeom prst="roundRect">
            <a:avLst/>
          </a:prstGeom>
          <a:solidFill>
            <a:srgbClr val="FCFCFC"/>
          </a:solidFill>
          <a:ln w="9525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27000" rIns="127000" rtlCol="0" anchor="ctr"/>
          <a:lstStyle/>
          <a:p>
            <a:pPr algn="ctr"/>
            <a:r>
              <a:rPr lang="en-US" sz="1400">
                <a:solidFill>
                  <a:srgbClr val="1E1E1E"/>
                </a:solidFill>
                <a:latin typeface="Calibri" panose="020F0502020204030204" pitchFamily="34" charset="0"/>
              </a:rPr>
              <a:t>▶  Direct WhatsApp Orders — Customers order straight to your WhatsApp. No login, no cart, no confusion.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18E4E6-FC2D-F7B4-6591-CFBCC4079038}"/>
              </a:ext>
            </a:extLst>
          </p:cNvPr>
          <p:cNvSpPr/>
          <p:nvPr/>
        </p:nvSpPr>
        <p:spPr>
          <a:xfrm>
            <a:off x="508000" y="5029200"/>
            <a:ext cx="11049000" cy="1079500"/>
          </a:xfrm>
          <a:prstGeom prst="roundRect">
            <a:avLst/>
          </a:prstGeom>
          <a:solidFill>
            <a:srgbClr val="FCFCFC"/>
          </a:solidFill>
          <a:ln w="9525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27000" rIns="127000" rtlCol="0" anchor="ctr"/>
          <a:lstStyle/>
          <a:p>
            <a:pPr algn="ctr"/>
            <a:r>
              <a:rPr lang="en-US" sz="1400">
                <a:solidFill>
                  <a:srgbClr val="1E1E1E"/>
                </a:solidFill>
                <a:latin typeface="Calibri" panose="020F0502020204030204" pitchFamily="34" charset="0"/>
              </a:rPr>
              <a:t>▶  100% of Your Profits — We take zero commission. Every rupee goes to you.</a:t>
            </a:r>
          </a:p>
        </p:txBody>
      </p:sp>
    </p:spTree>
    <p:extLst>
      <p:ext uri="{BB962C8B-B14F-4D97-AF65-F5344CB8AC3E}">
        <p14:creationId xmlns:p14="http://schemas.microsoft.com/office/powerpoint/2010/main" val="21656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3BAFE7-B9CE-3775-1F77-357FB544A943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D6E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697D0-1A85-56F8-0530-EEFECFCA0156}"/>
              </a:ext>
            </a:extLst>
          </p:cNvPr>
          <p:cNvSpPr txBox="1"/>
          <p:nvPr/>
        </p:nvSpPr>
        <p:spPr>
          <a:xfrm>
            <a:off x="11176000" y="6477000"/>
            <a:ext cx="889000" cy="3048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>
                <a:solidFill>
                  <a:srgbClr val="B4B4B4"/>
                </a:solidFill>
                <a:latin typeface="Calibri" panose="020F0502020204030204" pitchFamily="34" charset="0"/>
              </a:rPr>
              <a:t>04 / 07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8189640-63F3-6A99-3F6A-F5BF89F73FF6}"/>
              </a:ext>
            </a:extLst>
          </p:cNvPr>
          <p:cNvSpPr/>
          <p:nvPr/>
        </p:nvSpPr>
        <p:spPr>
          <a:xfrm>
            <a:off x="508000" y="533400"/>
            <a:ext cx="1651000" cy="330200"/>
          </a:xfrm>
          <a:prstGeom prst="roundRect">
            <a:avLst/>
          </a:prstGeom>
          <a:solidFill>
            <a:srgbClr val="0D6E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For Customers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3C2F86-876B-0507-8142-1604F045BBF7}"/>
              </a:ext>
            </a:extLst>
          </p:cNvPr>
          <p:cNvSpPr txBox="1"/>
          <p:nvPr/>
        </p:nvSpPr>
        <p:spPr>
          <a:xfrm>
            <a:off x="508000" y="1016000"/>
            <a:ext cx="1117600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3000" b="1">
                <a:solidFill>
                  <a:srgbClr val="0A0A0A"/>
                </a:solidFill>
                <a:latin typeface="Calibri" panose="020F0502020204030204" pitchFamily="34" charset="0"/>
              </a:rPr>
              <a:t>Why Your Customers Will Love 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AEEA8-639E-BD5C-3C2E-F13E1828EA51}"/>
              </a:ext>
            </a:extLst>
          </p:cNvPr>
          <p:cNvSpPr txBox="1"/>
          <p:nvPr/>
        </p:nvSpPr>
        <p:spPr>
          <a:xfrm>
            <a:off x="508000" y="1968500"/>
            <a:ext cx="11176000" cy="3556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>
                <a:solidFill>
                  <a:srgbClr val="646464"/>
                </a:solidFill>
                <a:latin typeface="Calibri" panose="020F0502020204030204" pitchFamily="34" charset="0"/>
              </a:rPr>
              <a:t>Give your buyers the shopping experience they expect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ABD145-076E-2BD7-4735-CAF6FC2D3C96}"/>
              </a:ext>
            </a:extLst>
          </p:cNvPr>
          <p:cNvCxnSpPr/>
          <p:nvPr/>
        </p:nvCxnSpPr>
        <p:spPr>
          <a:xfrm>
            <a:off x="508000" y="2413000"/>
            <a:ext cx="11176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7016B9-145A-84CE-2876-75B36841D2E6}"/>
              </a:ext>
            </a:extLst>
          </p:cNvPr>
          <p:cNvSpPr/>
          <p:nvPr/>
        </p:nvSpPr>
        <p:spPr>
          <a:xfrm>
            <a:off x="508000" y="2667000"/>
            <a:ext cx="11049000" cy="1079500"/>
          </a:xfrm>
          <a:prstGeom prst="roundRect">
            <a:avLst/>
          </a:prstGeom>
          <a:solidFill>
            <a:srgbClr val="FCFCFC"/>
          </a:solidFill>
          <a:ln w="9525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27000" rIns="127000" rtlCol="0" anchor="ctr"/>
          <a:lstStyle/>
          <a:p>
            <a:pPr algn="ctr"/>
            <a:r>
              <a:rPr lang="en-US" sz="1400">
                <a:solidFill>
                  <a:srgbClr val="1E1E1E"/>
                </a:solidFill>
                <a:latin typeface="Calibri" panose="020F0502020204030204" pitchFamily="34" charset="0"/>
              </a:rPr>
              <a:t>▶  Shop 24/7 — Customers browse your catalog anytime, even while you sleep.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17100B-8C31-9A36-8786-34F9AB8EE85A}"/>
              </a:ext>
            </a:extLst>
          </p:cNvPr>
          <p:cNvSpPr/>
          <p:nvPr/>
        </p:nvSpPr>
        <p:spPr>
          <a:xfrm>
            <a:off x="508000" y="3848100"/>
            <a:ext cx="11049000" cy="1079500"/>
          </a:xfrm>
          <a:prstGeom prst="roundRect">
            <a:avLst/>
          </a:prstGeom>
          <a:solidFill>
            <a:srgbClr val="FCFCFC"/>
          </a:solidFill>
          <a:ln w="9525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27000" rIns="127000" rtlCol="0" anchor="ctr"/>
          <a:lstStyle/>
          <a:p>
            <a:pPr algn="ctr"/>
            <a:r>
              <a:rPr lang="en-US" sz="1400">
                <a:solidFill>
                  <a:srgbClr val="1E1E1E"/>
                </a:solidFill>
                <a:latin typeface="Calibri" panose="020F0502020204030204" pitchFamily="34" charset="0"/>
              </a:rPr>
              <a:t>▶  Easy Search — Smart search &amp; filters help buyers find exactly what they need in seconds.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4CE56B-3AF4-B452-686B-306D77B23CF2}"/>
              </a:ext>
            </a:extLst>
          </p:cNvPr>
          <p:cNvSpPr/>
          <p:nvPr/>
        </p:nvSpPr>
        <p:spPr>
          <a:xfrm>
            <a:off x="508000" y="5029200"/>
            <a:ext cx="11049000" cy="1079500"/>
          </a:xfrm>
          <a:prstGeom prst="roundRect">
            <a:avLst/>
          </a:prstGeom>
          <a:solidFill>
            <a:srgbClr val="FCFCFC"/>
          </a:solidFill>
          <a:ln w="9525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27000" rIns="127000" rtlCol="0" anchor="ctr"/>
          <a:lstStyle/>
          <a:p>
            <a:pPr algn="ctr"/>
            <a:r>
              <a:rPr lang="en-US" sz="1400">
                <a:solidFill>
                  <a:srgbClr val="1E1E1E"/>
                </a:solidFill>
                <a:latin typeface="Calibri" panose="020F0502020204030204" pitchFamily="34" charset="0"/>
              </a:rPr>
              <a:t>▶  Personal Touch — WhatsApp ordering keeps the warmth of your local business alive.</a:t>
            </a:r>
          </a:p>
        </p:txBody>
      </p:sp>
    </p:spTree>
    <p:extLst>
      <p:ext uri="{BB962C8B-B14F-4D97-AF65-F5344CB8AC3E}">
        <p14:creationId xmlns:p14="http://schemas.microsoft.com/office/powerpoint/2010/main" val="199579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43F5AD-ABF4-9CB3-1777-7056E5268C8E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6F42C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DC0AD-1B4E-362D-29B8-0A2571A7F081}"/>
              </a:ext>
            </a:extLst>
          </p:cNvPr>
          <p:cNvSpPr txBox="1"/>
          <p:nvPr/>
        </p:nvSpPr>
        <p:spPr>
          <a:xfrm>
            <a:off x="11176000" y="6477000"/>
            <a:ext cx="889000" cy="3048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>
                <a:solidFill>
                  <a:srgbClr val="B4B4B4"/>
                </a:solidFill>
                <a:latin typeface="Calibri" panose="020F0502020204030204" pitchFamily="34" charset="0"/>
              </a:rPr>
              <a:t>05 / 07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AA9D124-CB97-A426-190B-9BEB9DF5FE60}"/>
              </a:ext>
            </a:extLst>
          </p:cNvPr>
          <p:cNvSpPr/>
          <p:nvPr/>
        </p:nvSpPr>
        <p:spPr>
          <a:xfrm>
            <a:off x="508000" y="533400"/>
            <a:ext cx="1651000" cy="330200"/>
          </a:xfrm>
          <a:prstGeom prst="roundRect">
            <a:avLst/>
          </a:prstGeom>
          <a:solidFill>
            <a:srgbClr val="6F42C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 panose="020F0502020204030204" pitchFamily="34" charset="0"/>
              </a:rPr>
              <a:t>For Owners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5AD45B-84AA-B3D9-D9B6-4B11289065FC}"/>
              </a:ext>
            </a:extLst>
          </p:cNvPr>
          <p:cNvSpPr txBox="1"/>
          <p:nvPr/>
        </p:nvSpPr>
        <p:spPr>
          <a:xfrm>
            <a:off x="508000" y="1016000"/>
            <a:ext cx="1117600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3000" b="1">
                <a:solidFill>
                  <a:srgbClr val="0A0A0A"/>
                </a:solidFill>
                <a:latin typeface="Calibri" panose="020F0502020204030204" pitchFamily="34" charset="0"/>
              </a:rPr>
              <a:t>The Owner's Magic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B3118A-E9FA-C5CB-C4F5-11D2423D8822}"/>
              </a:ext>
            </a:extLst>
          </p:cNvPr>
          <p:cNvSpPr txBox="1"/>
          <p:nvPr/>
        </p:nvSpPr>
        <p:spPr>
          <a:xfrm>
            <a:off x="508000" y="1968500"/>
            <a:ext cx="11176000" cy="3556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400">
                <a:solidFill>
                  <a:srgbClr val="646464"/>
                </a:solidFill>
                <a:latin typeface="Calibri" panose="020F0502020204030204" pitchFamily="34" charset="0"/>
              </a:rPr>
              <a:t>Full control of your store — from your phone, in seconds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F6C98A-2E00-001A-A97E-D7309D420257}"/>
              </a:ext>
            </a:extLst>
          </p:cNvPr>
          <p:cNvCxnSpPr/>
          <p:nvPr/>
        </p:nvCxnSpPr>
        <p:spPr>
          <a:xfrm>
            <a:off x="508000" y="2413000"/>
            <a:ext cx="11176000" cy="0"/>
          </a:xfrm>
          <a:prstGeom prst="line">
            <a:avLst/>
          </a:prstGeom>
          <a:ln w="12700">
            <a:solidFill>
              <a:srgbClr val="E6E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CA781EE-5E87-FF91-E3B6-905AC6DD2A79}"/>
              </a:ext>
            </a:extLst>
          </p:cNvPr>
          <p:cNvSpPr/>
          <p:nvPr/>
        </p:nvSpPr>
        <p:spPr>
          <a:xfrm>
            <a:off x="508000" y="2667000"/>
            <a:ext cx="11049000" cy="1079500"/>
          </a:xfrm>
          <a:prstGeom prst="roundRect">
            <a:avLst/>
          </a:prstGeom>
          <a:solidFill>
            <a:srgbClr val="FCFCFC"/>
          </a:solidFill>
          <a:ln w="9525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27000" rIns="127000" rtlCol="0" anchor="ctr"/>
          <a:lstStyle/>
          <a:p>
            <a:pPr algn="ctr"/>
            <a:r>
              <a:rPr lang="en-US" sz="1400">
                <a:solidFill>
                  <a:srgbClr val="1E1E1E"/>
                </a:solidFill>
                <a:latin typeface="Calibri" panose="020F0502020204030204" pitchFamily="34" charset="0"/>
              </a:rPr>
              <a:t>▶  Live Inventory — Mark items In Stock or Out of Stock instantly. No more apologizing to customers.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666166-D178-0BF7-9829-668C5618F5DA}"/>
              </a:ext>
            </a:extLst>
          </p:cNvPr>
          <p:cNvSpPr/>
          <p:nvPr/>
        </p:nvSpPr>
        <p:spPr>
          <a:xfrm>
            <a:off x="508000" y="3848100"/>
            <a:ext cx="11049000" cy="1079500"/>
          </a:xfrm>
          <a:prstGeom prst="roundRect">
            <a:avLst/>
          </a:prstGeom>
          <a:solidFill>
            <a:srgbClr val="FCFCFC"/>
          </a:solidFill>
          <a:ln w="9525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27000" rIns="127000" rtlCol="0" anchor="ctr"/>
          <a:lstStyle/>
          <a:p>
            <a:pPr algn="ctr"/>
            <a:r>
              <a:rPr lang="en-US" sz="1400">
                <a:solidFill>
                  <a:srgbClr val="1E1E1E"/>
                </a:solidFill>
                <a:latin typeface="Calibri" panose="020F0502020204030204" pitchFamily="34" charset="0"/>
              </a:rPr>
              <a:t>▶  Look Professional — Your own custom shop link + logo. Share on Instagram, Facebook &amp; WhatsApp Status.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108033-809B-5A10-CDB9-00141CCD7892}"/>
              </a:ext>
            </a:extLst>
          </p:cNvPr>
          <p:cNvSpPr/>
          <p:nvPr/>
        </p:nvSpPr>
        <p:spPr>
          <a:xfrm>
            <a:off x="508000" y="5029200"/>
            <a:ext cx="11049000" cy="1079500"/>
          </a:xfrm>
          <a:prstGeom prst="roundRect">
            <a:avLst/>
          </a:prstGeom>
          <a:solidFill>
            <a:srgbClr val="FCFCFC"/>
          </a:solidFill>
          <a:ln w="9525">
            <a:solidFill>
              <a:srgbClr val="EBE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127000" rIns="127000" rtlCol="0" anchor="ctr"/>
          <a:lstStyle/>
          <a:p>
            <a:pPr algn="ctr"/>
            <a:r>
              <a:rPr lang="en-US" sz="1400">
                <a:solidFill>
                  <a:srgbClr val="1E1E1E"/>
                </a:solidFill>
                <a:latin typeface="Calibri" panose="020F0502020204030204" pitchFamily="34" charset="0"/>
              </a:rPr>
              <a:t>▶  Easy Management — Add products, set prices, and organise categories. All from your phone.</a:t>
            </a:r>
          </a:p>
        </p:txBody>
      </p:sp>
    </p:spTree>
    <p:extLst>
      <p:ext uri="{BB962C8B-B14F-4D97-AF65-F5344CB8AC3E}">
        <p14:creationId xmlns:p14="http://schemas.microsoft.com/office/powerpoint/2010/main" val="610120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1FA113-FB47-6306-098B-8B887A01827D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FFC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54ED2-A5F7-5259-BA3D-1A169EA95050}"/>
              </a:ext>
            </a:extLst>
          </p:cNvPr>
          <p:cNvSpPr txBox="1"/>
          <p:nvPr/>
        </p:nvSpPr>
        <p:spPr>
          <a:xfrm>
            <a:off x="762000" y="381000"/>
            <a:ext cx="10541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>
                <a:solidFill>
                  <a:srgbClr val="505050"/>
                </a:solidFill>
                <a:latin typeface="Calibri" panose="020F0502020204030204" pitchFamily="34" charset="0"/>
              </a:rPr>
              <a:t>06 / 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C0121-E5F4-D169-00B4-8B6B76295CD2}"/>
              </a:ext>
            </a:extLst>
          </p:cNvPr>
          <p:cNvSpPr txBox="1"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4200" b="1">
                <a:solidFill>
                  <a:srgbClr val="FFFFFF"/>
                </a:solidFill>
                <a:latin typeface="Calibri" panose="020F0502020204030204" pitchFamily="34" charset="0"/>
              </a:rPr>
              <a:t>Big Value. Tiny Price.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14C704-F2B3-8B62-5302-0888074F95B0}"/>
              </a:ext>
            </a:extLst>
          </p:cNvPr>
          <p:cNvSpPr txBox="1"/>
          <p:nvPr/>
        </p:nvSpPr>
        <p:spPr>
          <a:xfrm>
            <a:off x="762000" y="1333500"/>
            <a:ext cx="10668000" cy="3556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300">
                <a:solidFill>
                  <a:srgbClr val="B4B4B4"/>
                </a:solidFill>
                <a:latin typeface="Calibri" panose="020F0502020204030204" pitchFamily="34" charset="0"/>
              </a:rPr>
              <a:t>No hidden fees  |  No commissions  |  No IT guy needed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6FA3ED-6069-F69B-488A-024615EEB2B4}"/>
              </a:ext>
            </a:extLst>
          </p:cNvPr>
          <p:cNvSpPr/>
          <p:nvPr/>
        </p:nvSpPr>
        <p:spPr>
          <a:xfrm>
            <a:off x="1270000" y="1968500"/>
            <a:ext cx="4191000" cy="3175000"/>
          </a:xfrm>
          <a:prstGeom prst="roundRect">
            <a:avLst/>
          </a:prstGeom>
          <a:solidFill>
            <a:srgbClr val="FFC8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228600" rIns="228600" rtlCol="0" anchor="ctr"/>
          <a:lstStyle/>
          <a:p>
            <a:pPr algn="ctr"/>
            <a:r>
              <a:rPr lang="en-US" sz="1400" b="1">
                <a:solidFill>
                  <a:srgbClr val="0A0A0A"/>
                </a:solidFill>
                <a:latin typeface="Calibri" panose="020F0502020204030204" pitchFamily="34" charset="0"/>
              </a:rPr>
              <a:t>Launch Offer</a:t>
            </a:r>
          </a:p>
          <a:p>
            <a:pPr algn="ctr"/>
            <a:endParaRPr lang="en-US" sz="1000">
              <a:solidFill>
                <a:srgbClr val="0A0A0A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3800" b="1">
                <a:solidFill>
                  <a:srgbClr val="0A0A0A"/>
                </a:solidFill>
                <a:latin typeface="Calibri" panose="020F0502020204030204" pitchFamily="34" charset="0"/>
              </a:rPr>
              <a:t>₹1,599</a:t>
            </a:r>
          </a:p>
          <a:p>
            <a:pPr algn="ctr"/>
            <a:r>
              <a:rPr lang="en-US" sz="1400" b="1">
                <a:solidFill>
                  <a:srgbClr val="0A0A0A"/>
                </a:solidFill>
                <a:latin typeface="Calibri" panose="020F0502020204030204" pitchFamily="34" charset="0"/>
              </a:rPr>
              <a:t>First 3 Months</a:t>
            </a:r>
          </a:p>
          <a:p>
            <a:pPr algn="ctr"/>
            <a:endParaRPr lang="en-US" sz="1000">
              <a:solidFill>
                <a:srgbClr val="0A0A0A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1100">
                <a:solidFill>
                  <a:srgbClr val="0A0A0A"/>
                </a:solidFill>
                <a:latin typeface="Calibri" panose="020F0502020204030204" pitchFamily="34" charset="0"/>
              </a:rPr>
              <a:t>~₹533 / month</a:t>
            </a:r>
          </a:p>
          <a:p>
            <a:pPr algn="ctr"/>
            <a:r>
              <a:rPr lang="en-US">
                <a:solidFill>
                  <a:srgbClr val="0A0A0A"/>
                </a:solidFill>
                <a:latin typeface="Calibri" panose="020F0502020204030204" pitchFamily="34" charset="0"/>
              </a:rPr>
              <a:t>Less than a cup of chai per day!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FE2D46-A52E-EE1E-5F23-A9F800F2B05A}"/>
              </a:ext>
            </a:extLst>
          </p:cNvPr>
          <p:cNvSpPr/>
          <p:nvPr/>
        </p:nvSpPr>
        <p:spPr>
          <a:xfrm>
            <a:off x="5969000" y="1968500"/>
            <a:ext cx="4191000" cy="3175000"/>
          </a:xfrm>
          <a:prstGeom prst="roundRect">
            <a:avLst/>
          </a:prstGeom>
          <a:solidFill>
            <a:srgbClr val="232323"/>
          </a:solidFill>
          <a:ln w="19050">
            <a:solidFill>
              <a:srgbClr val="4646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/>
            <a:r>
              <a:rPr lang="en-US" sz="1400" b="1">
                <a:solidFill>
                  <a:srgbClr val="DCDCDC"/>
                </a:solidFill>
                <a:latin typeface="Calibri" panose="020F0502020204030204" pitchFamily="34" charset="0"/>
              </a:rPr>
              <a:t>Standard Plan</a:t>
            </a:r>
          </a:p>
          <a:p>
            <a:pPr algn="ctr"/>
            <a:endParaRPr lang="en-US" sz="1000">
              <a:solidFill>
                <a:srgbClr val="DCDCDC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3800" b="1">
                <a:solidFill>
                  <a:srgbClr val="DCDCDC"/>
                </a:solidFill>
                <a:latin typeface="Calibri" panose="020F0502020204030204" pitchFamily="34" charset="0"/>
              </a:rPr>
              <a:t>₹699</a:t>
            </a:r>
          </a:p>
          <a:p>
            <a:pPr algn="ctr"/>
            <a:r>
              <a:rPr lang="en-US" sz="1400" b="1">
                <a:solidFill>
                  <a:srgbClr val="DCDCDC"/>
                </a:solidFill>
                <a:latin typeface="Calibri" panose="020F0502020204030204" pitchFamily="34" charset="0"/>
              </a:rPr>
              <a:t>Per Month</a:t>
            </a:r>
          </a:p>
          <a:p>
            <a:pPr algn="ctr"/>
            <a:endParaRPr lang="en-US" sz="1000">
              <a:solidFill>
                <a:srgbClr val="DCDCDC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1100">
                <a:solidFill>
                  <a:srgbClr val="DCDCDC"/>
                </a:solidFill>
                <a:latin typeface="Calibri" panose="020F0502020204030204" pitchFamily="34" charset="0"/>
              </a:rPr>
              <a:t>After your first 3 months</a:t>
            </a:r>
          </a:p>
          <a:p>
            <a:pPr algn="ctr"/>
            <a:r>
              <a:rPr lang="en-US" sz="1100">
                <a:solidFill>
                  <a:srgbClr val="DCDCDC"/>
                </a:solidFill>
                <a:latin typeface="Calibri" panose="020F0502020204030204" pitchFamily="34" charset="0"/>
              </a:rPr>
              <a:t>Cancel anytime, no lock-in.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3BF54-D47C-943E-11FD-085F5637CA16}"/>
              </a:ext>
            </a:extLst>
          </p:cNvPr>
          <p:cNvSpPr txBox="1"/>
          <p:nvPr/>
        </p:nvSpPr>
        <p:spPr>
          <a:xfrm>
            <a:off x="762000" y="5334000"/>
            <a:ext cx="10668000" cy="3556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200" b="1">
                <a:solidFill>
                  <a:srgbClr val="FFC800"/>
                </a:solidFill>
                <a:latin typeface="Calibri" panose="020F0502020204030204" pitchFamily="34" charset="0"/>
              </a:rPr>
              <a:t>GUARANTEE: Zero commissions on every sale. You keep every single rupee.</a:t>
            </a:r>
          </a:p>
        </p:txBody>
      </p:sp>
    </p:spTree>
    <p:extLst>
      <p:ext uri="{BB962C8B-B14F-4D97-AF65-F5344CB8AC3E}">
        <p14:creationId xmlns:p14="http://schemas.microsoft.com/office/powerpoint/2010/main" val="1520134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DE25F0-3AC2-5EBF-4E74-422D5551142F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25D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858108-87E8-4851-62EF-8AB75705683D}"/>
              </a:ext>
            </a:extLst>
          </p:cNvPr>
          <p:cNvSpPr txBox="1"/>
          <p:nvPr/>
        </p:nvSpPr>
        <p:spPr>
          <a:xfrm>
            <a:off x="762000" y="381000"/>
            <a:ext cx="10541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n-US" sz="900">
                <a:solidFill>
                  <a:srgbClr val="505050"/>
                </a:solidFill>
                <a:latin typeface="Calibri" panose="020F0502020204030204" pitchFamily="34" charset="0"/>
              </a:rPr>
              <a:t>07 / 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CCC28-C7B4-ABB3-AA93-35A9790A1A04}"/>
              </a:ext>
            </a:extLst>
          </p:cNvPr>
          <p:cNvSpPr txBox="1"/>
          <p:nvPr/>
        </p:nvSpPr>
        <p:spPr>
          <a:xfrm>
            <a:off x="762000" y="1143000"/>
            <a:ext cx="10668000" cy="889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4000" b="1">
                <a:solidFill>
                  <a:srgbClr val="FFFFFF"/>
                </a:solidFill>
                <a:latin typeface="Calibri" panose="020F0502020204030204" pitchFamily="34" charset="0"/>
              </a:rPr>
              <a:t>Let's Grow Your Business Today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5D323B-633A-289C-4370-DAE4D934D6E5}"/>
              </a:ext>
            </a:extLst>
          </p:cNvPr>
          <p:cNvSpPr txBox="1"/>
          <p:nvPr/>
        </p:nvSpPr>
        <p:spPr>
          <a:xfrm>
            <a:off x="762000" y="2159000"/>
            <a:ext cx="10668000" cy="4572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sz="1700">
                <a:solidFill>
                  <a:srgbClr val="C8C8C8"/>
                </a:solidFill>
                <a:latin typeface="Calibri" panose="020F0502020204030204" pitchFamily="34" charset="0"/>
              </a:rPr>
              <a:t>Don't let bigger competitors steal your loyal customers.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606996-A9AA-608D-1A6F-BF742F3C6827}"/>
              </a:ext>
            </a:extLst>
          </p:cNvPr>
          <p:cNvSpPr txBox="1"/>
          <p:nvPr/>
        </p:nvSpPr>
        <p:spPr>
          <a:xfrm>
            <a:off x="3175000" y="2984500"/>
            <a:ext cx="5842000" cy="4826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B4B4B4"/>
                </a:solidFill>
                <a:latin typeface="Calibri" panose="020F0502020204030204" pitchFamily="34" charset="0"/>
              </a:rPr>
              <a:t>✓  Your own digital store — live within hours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AC28D-83F0-7770-558E-49DA5FBE1B36}"/>
              </a:ext>
            </a:extLst>
          </p:cNvPr>
          <p:cNvSpPr txBox="1"/>
          <p:nvPr/>
        </p:nvSpPr>
        <p:spPr>
          <a:xfrm>
            <a:off x="3175000" y="3556000"/>
            <a:ext cx="5842000" cy="4826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B4B4B4"/>
                </a:solidFill>
                <a:latin typeface="Calibri" panose="020F0502020204030204" pitchFamily="34" charset="0"/>
              </a:rPr>
              <a:t>✓  Orders come directly to your WhatsApp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4F6B3-0DAB-6737-C1CA-8EF9F84C7B7C}"/>
              </a:ext>
            </a:extLst>
          </p:cNvPr>
          <p:cNvSpPr txBox="1"/>
          <p:nvPr/>
        </p:nvSpPr>
        <p:spPr>
          <a:xfrm>
            <a:off x="3175000" y="4127500"/>
            <a:ext cx="5842000" cy="4826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sz="1500">
                <a:solidFill>
                  <a:srgbClr val="B4B4B4"/>
                </a:solidFill>
                <a:latin typeface="Calibri" panose="020F0502020204030204" pitchFamily="34" charset="0"/>
              </a:rPr>
              <a:t>✓  Start for just ₹1,599 for the first 3 months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87391C-87F3-1D24-2220-E26D067A8F17}"/>
              </a:ext>
            </a:extLst>
          </p:cNvPr>
          <p:cNvSpPr/>
          <p:nvPr/>
        </p:nvSpPr>
        <p:spPr>
          <a:xfrm>
            <a:off x="4191000" y="5080000"/>
            <a:ext cx="3810000" cy="660400"/>
          </a:xfrm>
          <a:prstGeom prst="roundRect">
            <a:avLst/>
          </a:prstGeom>
          <a:solidFill>
            <a:srgbClr val="25D3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A0A0A"/>
                </a:solidFill>
                <a:latin typeface="Calibri" panose="020F0502020204030204" pitchFamily="34" charset="0"/>
              </a:rPr>
              <a:t>Get Started with Zelera Deck</a:t>
            </a:r>
          </a:p>
        </p:txBody>
      </p:sp>
    </p:spTree>
    <p:extLst>
      <p:ext uri="{BB962C8B-B14F-4D97-AF65-F5344CB8AC3E}">
        <p14:creationId xmlns:p14="http://schemas.microsoft.com/office/powerpoint/2010/main" val="4226263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430</Words>
  <Application>Microsoft Office PowerPoint</Application>
  <PresentationFormat>Custom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Jaison</dc:creator>
  <cp:lastModifiedBy>Jerin Jaison</cp:lastModifiedBy>
  <cp:revision>1</cp:revision>
  <dcterms:created xsi:type="dcterms:W3CDTF">2026-04-10T08:32:34Z</dcterms:created>
  <dcterms:modified xsi:type="dcterms:W3CDTF">2026-04-10T08:32:34Z</dcterms:modified>
</cp:coreProperties>
</file>